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arcellus" charset="1" panose="020E0602050203020307"/>
      <p:regular r:id="rId16"/>
    </p:embeddedFont>
    <p:embeddedFont>
      <p:font typeface="Montserrat" charset="1" panose="00000500000000000000"/>
      <p:regular r:id="rId17"/>
    </p:embeddedFont>
    <p:embeddedFont>
      <p:font typeface="Montserrat Italics" charset="1" panose="00000500000000000000"/>
      <p:regular r:id="rId18"/>
    </p:embeddedFont>
    <p:embeddedFont>
      <p:font typeface="Montserrat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EC8A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095492" y="0"/>
            <a:ext cx="7206348" cy="10295039"/>
            <a:chOff x="0" y="0"/>
            <a:chExt cx="9608464" cy="137267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0843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608439">
                  <a:moveTo>
                    <a:pt x="0" y="0"/>
                  </a:moveTo>
                  <a:lnTo>
                    <a:pt x="9608439" y="0"/>
                  </a:lnTo>
                  <a:lnTo>
                    <a:pt x="9608439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3073213"/>
            <a:ext cx="9452677" cy="217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68"/>
              </a:lnSpc>
            </a:pPr>
            <a:r>
              <a:rPr lang="en-US" sz="6379" spc="-64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Customer Shopping Behavior Analysis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5657821"/>
            <a:ext cx="9452677" cy="756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Turning Customer Transaction Data into Actionable Business Insights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83456" y="6724098"/>
            <a:ext cx="1352531" cy="450113"/>
            <a:chOff x="0" y="0"/>
            <a:chExt cx="1803375" cy="60015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3400" cy="600075"/>
            </a:xfrm>
            <a:custGeom>
              <a:avLst/>
              <a:gdLst/>
              <a:ahLst/>
              <a:cxnLst/>
              <a:rect r="r" b="b" t="t" l="l"/>
              <a:pathLst>
                <a:path h="600075" w="1803400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lnTo>
                    <a:pt x="1670685" y="0"/>
                  </a:lnTo>
                  <a:cubicBezTo>
                    <a:pt x="1743964" y="0"/>
                    <a:pt x="1803400" y="59436"/>
                    <a:pt x="1803400" y="132715"/>
                  </a:cubicBezTo>
                  <a:lnTo>
                    <a:pt x="1803400" y="467360"/>
                  </a:lnTo>
                  <a:cubicBezTo>
                    <a:pt x="1803400" y="540639"/>
                    <a:pt x="1743964" y="600075"/>
                    <a:pt x="1670685" y="600075"/>
                  </a:cubicBezTo>
                  <a:lnTo>
                    <a:pt x="132715" y="600075"/>
                  </a:lnTo>
                  <a:cubicBezTo>
                    <a:pt x="59436" y="600202"/>
                    <a:pt x="0" y="540766"/>
                    <a:pt x="0" y="467360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551" r="1" b="-8563"/>
              </a:stretch>
            </a:blipFill>
            <a:ln w="19065" cap="sq">
              <a:solidFill>
                <a:srgbClr val="FF954F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163231" y="6828206"/>
            <a:ext cx="1908077" cy="251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726">
                <a:solidFill>
                  <a:srgbClr val="FF954F"/>
                </a:solidFill>
                <a:latin typeface="Montserrat"/>
                <a:ea typeface="Montserrat"/>
                <a:cs typeface="Montserrat"/>
                <a:sym typeface="Montserrat"/>
              </a:rPr>
              <a:t>PYTHON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458717" y="6724098"/>
            <a:ext cx="2590829" cy="450113"/>
            <a:chOff x="0" y="0"/>
            <a:chExt cx="3454438" cy="6001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54400" cy="600075"/>
            </a:xfrm>
            <a:custGeom>
              <a:avLst/>
              <a:gdLst/>
              <a:ahLst/>
              <a:cxnLst/>
              <a:rect r="r" b="b" t="t" l="l"/>
              <a:pathLst>
                <a:path h="600075" w="3454400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lnTo>
                    <a:pt x="3321685" y="0"/>
                  </a:lnTo>
                  <a:cubicBezTo>
                    <a:pt x="3394964" y="0"/>
                    <a:pt x="3454400" y="59436"/>
                    <a:pt x="3454400" y="132715"/>
                  </a:cubicBezTo>
                  <a:lnTo>
                    <a:pt x="3454400" y="467360"/>
                  </a:lnTo>
                  <a:cubicBezTo>
                    <a:pt x="3454400" y="540639"/>
                    <a:pt x="3394964" y="600075"/>
                    <a:pt x="3321685" y="600075"/>
                  </a:cubicBezTo>
                  <a:lnTo>
                    <a:pt x="132715" y="600075"/>
                  </a:lnTo>
                  <a:cubicBezTo>
                    <a:pt x="59436" y="600202"/>
                    <a:pt x="0" y="540766"/>
                    <a:pt x="0" y="467360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162" r="-1" b="-62175"/>
              </a:stretch>
            </a:blipFill>
            <a:ln w="19065" cap="sq">
              <a:solidFill>
                <a:srgbClr val="FF954F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2638482" y="6828206"/>
            <a:ext cx="3146374" cy="251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726">
                <a:solidFill>
                  <a:srgbClr val="FF954F"/>
                </a:solidFill>
                <a:latin typeface="Montserrat"/>
                <a:ea typeface="Montserrat"/>
                <a:cs typeface="Montserrat"/>
                <a:sym typeface="Montserrat"/>
              </a:rPr>
              <a:t>POSTGRESQL / SQL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172266" y="6724098"/>
            <a:ext cx="1571330" cy="450113"/>
            <a:chOff x="0" y="0"/>
            <a:chExt cx="2095106" cy="6001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95119" cy="600075"/>
            </a:xfrm>
            <a:custGeom>
              <a:avLst/>
              <a:gdLst/>
              <a:ahLst/>
              <a:cxnLst/>
              <a:rect r="r" b="b" t="t" l="l"/>
              <a:pathLst>
                <a:path h="600075" w="2095119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lnTo>
                    <a:pt x="1962404" y="0"/>
                  </a:lnTo>
                  <a:cubicBezTo>
                    <a:pt x="2035683" y="0"/>
                    <a:pt x="2095119" y="59436"/>
                    <a:pt x="2095119" y="132715"/>
                  </a:cubicBezTo>
                  <a:lnTo>
                    <a:pt x="2095119" y="467360"/>
                  </a:lnTo>
                  <a:cubicBezTo>
                    <a:pt x="2095119" y="540639"/>
                    <a:pt x="2035683" y="600075"/>
                    <a:pt x="1962404" y="600075"/>
                  </a:cubicBezTo>
                  <a:lnTo>
                    <a:pt x="132715" y="600075"/>
                  </a:lnTo>
                  <a:cubicBezTo>
                    <a:pt x="59436" y="600202"/>
                    <a:pt x="0" y="540766"/>
                    <a:pt x="0" y="467360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023" r="0" b="-18036"/>
              </a:stretch>
            </a:blipFill>
            <a:ln w="19065" cap="sq">
              <a:solidFill>
                <a:srgbClr val="FF954F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5352040" y="6828206"/>
            <a:ext cx="2126875" cy="251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726">
                <a:solidFill>
                  <a:srgbClr val="FF954F"/>
                </a:solidFill>
                <a:latin typeface="Montserrat"/>
                <a:ea typeface="Montserrat"/>
                <a:cs typeface="Montserrat"/>
                <a:sym typeface="Montserrat"/>
              </a:rPr>
              <a:t>POWER BI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EC8A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095492" y="0"/>
            <a:ext cx="7206348" cy="10295039"/>
            <a:chOff x="0" y="0"/>
            <a:chExt cx="9608464" cy="137267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0843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608439">
                  <a:moveTo>
                    <a:pt x="0" y="0"/>
                  </a:moveTo>
                  <a:lnTo>
                    <a:pt x="9608439" y="0"/>
                  </a:lnTo>
                  <a:lnTo>
                    <a:pt x="9608439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2225116"/>
            <a:ext cx="9452677" cy="1416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0"/>
              </a:lnSpc>
            </a:pPr>
            <a:r>
              <a:rPr lang="en-US" sz="4128" spc="-42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Understanding What Drives Customer Shopping Behavior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60279" y="3821621"/>
            <a:ext cx="4766853" cy="4210212"/>
            <a:chOff x="0" y="0"/>
            <a:chExt cx="6355804" cy="56136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5842" cy="5613654"/>
            </a:xfrm>
            <a:custGeom>
              <a:avLst/>
              <a:gdLst/>
              <a:ahLst/>
              <a:cxnLst/>
              <a:rect r="r" b="b" t="t" l="l"/>
              <a:pathLst>
                <a:path h="5613654" w="6355842">
                  <a:moveTo>
                    <a:pt x="0" y="177038"/>
                  </a:moveTo>
                  <a:cubicBezTo>
                    <a:pt x="0" y="79248"/>
                    <a:pt x="79248" y="0"/>
                    <a:pt x="177038" y="0"/>
                  </a:cubicBezTo>
                  <a:lnTo>
                    <a:pt x="6178804" y="0"/>
                  </a:lnTo>
                  <a:cubicBezTo>
                    <a:pt x="6276594" y="0"/>
                    <a:pt x="6355842" y="79248"/>
                    <a:pt x="6355842" y="177038"/>
                  </a:cubicBezTo>
                  <a:lnTo>
                    <a:pt x="6355842" y="5436616"/>
                  </a:lnTo>
                  <a:cubicBezTo>
                    <a:pt x="6355842" y="5534406"/>
                    <a:pt x="6276594" y="5613654"/>
                    <a:pt x="6178804" y="5613654"/>
                  </a:cubicBezTo>
                  <a:lnTo>
                    <a:pt x="177038" y="5613654"/>
                  </a:lnTo>
                  <a:cubicBezTo>
                    <a:pt x="79248" y="5613654"/>
                    <a:pt x="0" y="5534406"/>
                    <a:pt x="0" y="5436616"/>
                  </a:cubicBezTo>
                  <a:close/>
                </a:path>
              </a:pathLst>
            </a:custGeom>
            <a:solidFill>
              <a:srgbClr val="1F77B4">
                <a:alpha val="90196"/>
              </a:srgbClr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44673" y="3912794"/>
            <a:ext cx="4398074" cy="373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026" spc="-21">
                <a:solidFill>
                  <a:srgbClr val="FFFFFF"/>
                </a:solidFill>
                <a:latin typeface="Marcellus"/>
                <a:ea typeface="Marcellus"/>
                <a:cs typeface="Marcellus"/>
                <a:sym typeface="Marcellus"/>
              </a:rPr>
              <a:t>Business Challenge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4673" y="4415304"/>
            <a:ext cx="4398074" cy="978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3"/>
              </a:lnSpc>
            </a:pPr>
            <a:r>
              <a:rPr lang="en-US" sz="142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retail company seeks to understand changing customer purchasing patterns across demographics, product categories, sales channels, discounts, reviews, and subscription behavior.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4673" y="5485200"/>
            <a:ext cx="4398074" cy="373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026" spc="-21">
                <a:solidFill>
                  <a:srgbClr val="FFFFFF"/>
                </a:solidFill>
                <a:latin typeface="Marcellus"/>
                <a:ea typeface="Marcellus"/>
                <a:cs typeface="Marcellus"/>
                <a:sym typeface="Marcellus"/>
              </a:rPr>
              <a:t>Core Question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4673" y="5987710"/>
            <a:ext cx="4398074" cy="781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3"/>
              </a:lnSpc>
            </a:pPr>
            <a:r>
              <a:rPr lang="en-US" sz="1426" i="tru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"How can the company leverage consumer shopping data to identify trends, improve customer engagement, and optimize marketing and product strategies?"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53754" y="3912794"/>
            <a:ext cx="4501439" cy="373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026" spc="-21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Strategic Objectives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6022867" y="4432287"/>
            <a:ext cx="276587" cy="276587"/>
          </a:xfrm>
          <a:custGeom>
            <a:avLst/>
            <a:gdLst/>
            <a:ahLst/>
            <a:cxnLst/>
            <a:rect r="r" b="b" t="t" l="l"/>
            <a:pathLst>
              <a:path h="276587" w="276587">
                <a:moveTo>
                  <a:pt x="0" y="0"/>
                </a:moveTo>
                <a:lnTo>
                  <a:pt x="276587" y="0"/>
                </a:lnTo>
                <a:lnTo>
                  <a:pt x="276587" y="276587"/>
                </a:lnTo>
                <a:lnTo>
                  <a:pt x="0" y="2765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6667" t="0" r="-6667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553095" y="4392244"/>
            <a:ext cx="3902097" cy="71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026" spc="-21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Identify behavioral trends across customer segments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6022867" y="5361261"/>
            <a:ext cx="276587" cy="276587"/>
          </a:xfrm>
          <a:custGeom>
            <a:avLst/>
            <a:gdLst/>
            <a:ahLst/>
            <a:cxnLst/>
            <a:rect r="r" b="b" t="t" l="l"/>
            <a:pathLst>
              <a:path h="276587" w="276587">
                <a:moveTo>
                  <a:pt x="0" y="0"/>
                </a:moveTo>
                <a:lnTo>
                  <a:pt x="276587" y="0"/>
                </a:lnTo>
                <a:lnTo>
                  <a:pt x="276587" y="276586"/>
                </a:lnTo>
                <a:lnTo>
                  <a:pt x="0" y="2765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6667" t="0" r="-6667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553095" y="5321217"/>
            <a:ext cx="3902097" cy="71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026" spc="-21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Improve customer engagement and retention</a:t>
            </a:r>
          </a:p>
        </p:txBody>
      </p:sp>
      <p:sp>
        <p:nvSpPr>
          <p:cNvPr name="Freeform 22" id="22" descr="preencoded.png"/>
          <p:cNvSpPr/>
          <p:nvPr/>
        </p:nvSpPr>
        <p:spPr>
          <a:xfrm flipH="false" flipV="false" rot="0">
            <a:off x="6022867" y="6290224"/>
            <a:ext cx="276587" cy="276587"/>
          </a:xfrm>
          <a:custGeom>
            <a:avLst/>
            <a:gdLst/>
            <a:ahLst/>
            <a:cxnLst/>
            <a:rect r="r" b="b" t="t" l="l"/>
            <a:pathLst>
              <a:path h="276587" w="276587">
                <a:moveTo>
                  <a:pt x="0" y="0"/>
                </a:moveTo>
                <a:lnTo>
                  <a:pt x="276587" y="0"/>
                </a:lnTo>
                <a:lnTo>
                  <a:pt x="276587" y="276587"/>
                </a:lnTo>
                <a:lnTo>
                  <a:pt x="0" y="2765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6667" t="0" r="-6667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553095" y="6250181"/>
            <a:ext cx="3902097" cy="71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026" spc="-21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Optimize marketing strategy and targeting</a:t>
            </a:r>
          </a:p>
        </p:txBody>
      </p:sp>
      <p:sp>
        <p:nvSpPr>
          <p:cNvPr name="Freeform 24" id="24" descr="preencoded.png"/>
          <p:cNvSpPr/>
          <p:nvPr/>
        </p:nvSpPr>
        <p:spPr>
          <a:xfrm flipH="false" flipV="false" rot="0">
            <a:off x="6022867" y="7219188"/>
            <a:ext cx="276587" cy="276587"/>
          </a:xfrm>
          <a:custGeom>
            <a:avLst/>
            <a:gdLst/>
            <a:ahLst/>
            <a:cxnLst/>
            <a:rect r="r" b="b" t="t" l="l"/>
            <a:pathLst>
              <a:path h="276587" w="276587">
                <a:moveTo>
                  <a:pt x="0" y="0"/>
                </a:moveTo>
                <a:lnTo>
                  <a:pt x="276587" y="0"/>
                </a:lnTo>
                <a:lnTo>
                  <a:pt x="276587" y="276587"/>
                </a:lnTo>
                <a:lnTo>
                  <a:pt x="0" y="2765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6667" t="0" r="-6667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6553095" y="7179145"/>
            <a:ext cx="3902097" cy="71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026" spc="-21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Strengthen product strategy and positioning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EC8A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425883"/>
            <a:ext cx="16315868" cy="842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25"/>
              </a:lnSpc>
            </a:pPr>
            <a:r>
              <a:rPr lang="en-US" sz="4803" spc="-48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From Raw Customer Data to Business Insights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2304040"/>
            <a:ext cx="16315868" cy="426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401" spc="-24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Dataset Overview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00269" y="3190304"/>
            <a:ext cx="6043574" cy="587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7"/>
              </a:lnSpc>
            </a:pPr>
            <a:r>
              <a:rPr lang="en-US" sz="5479" spc="-55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3,900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3975649"/>
            <a:ext cx="8058140" cy="426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2"/>
              </a:lnSpc>
            </a:pPr>
            <a:r>
              <a:rPr lang="en-US" sz="2401" spc="-24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Purchase Records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4507049"/>
            <a:ext cx="8058140" cy="47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2"/>
              </a:lnSpc>
            </a:pPr>
            <a:r>
              <a:rPr lang="en-US" sz="165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Customer transactions spanning demographics, products, discounts, reviews, shipping, and subscriptions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57844" y="3190304"/>
            <a:ext cx="6043717" cy="587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7"/>
              </a:lnSpc>
            </a:pPr>
            <a:r>
              <a:rPr lang="en-US" sz="5479" spc="-55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18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50566" y="3975649"/>
            <a:ext cx="8058293" cy="426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2"/>
              </a:lnSpc>
            </a:pPr>
            <a:r>
              <a:rPr lang="en-US" sz="2401" spc="-24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Columns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50566" y="4507049"/>
            <a:ext cx="8058293" cy="23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2"/>
              </a:lnSpc>
            </a:pPr>
            <a:r>
              <a:rPr lang="en-US" sz="165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Capturing the complete customer transaction lifecycle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991" y="5192373"/>
            <a:ext cx="16315868" cy="426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401" spc="-24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Analytical Workflow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2991" y="5857989"/>
            <a:ext cx="425520" cy="276587"/>
            <a:chOff x="0" y="0"/>
            <a:chExt cx="567360" cy="3687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67365" cy="368786"/>
            </a:xfrm>
            <a:custGeom>
              <a:avLst/>
              <a:gdLst/>
              <a:ahLst/>
              <a:cxnLst/>
              <a:rect r="r" b="b" t="t" l="l"/>
              <a:pathLst>
                <a:path h="368786" w="567365">
                  <a:moveTo>
                    <a:pt x="0" y="0"/>
                  </a:moveTo>
                  <a:lnTo>
                    <a:pt x="567365" y="0"/>
                  </a:lnTo>
                  <a:lnTo>
                    <a:pt x="567365" y="368786"/>
                  </a:lnTo>
                  <a:lnTo>
                    <a:pt x="0" y="36878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396" t="0" r="-3339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567360" cy="3592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 spc="-16">
                  <a:solidFill>
                    <a:srgbClr val="67534F"/>
                  </a:solidFill>
                  <a:latin typeface="Marcellus"/>
                  <a:ea typeface="Marcellus"/>
                  <a:cs typeface="Marcellus"/>
                  <a:sym typeface="Marcellus"/>
                </a:rPr>
                <a:t>01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92991" y="6201604"/>
            <a:ext cx="8078105" cy="28594"/>
            <a:chOff x="0" y="0"/>
            <a:chExt cx="10770806" cy="381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70743" cy="38100"/>
            </a:xfrm>
            <a:custGeom>
              <a:avLst/>
              <a:gdLst/>
              <a:ahLst/>
              <a:cxnLst/>
              <a:rect r="r" b="b" t="t" l="l"/>
              <a:pathLst>
                <a:path h="38100" w="10770743">
                  <a:moveTo>
                    <a:pt x="0" y="0"/>
                  </a:moveTo>
                  <a:lnTo>
                    <a:pt x="10770743" y="0"/>
                  </a:lnTo>
                  <a:lnTo>
                    <a:pt x="1077074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954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92991" y="6336563"/>
            <a:ext cx="8078105" cy="426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401" spc="-24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Python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2991" y="6867973"/>
            <a:ext cx="8078105" cy="23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65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Data cleaning, exploratory analysis, feature engineering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30601" y="5857989"/>
            <a:ext cx="425520" cy="276587"/>
            <a:chOff x="0" y="0"/>
            <a:chExt cx="567360" cy="36878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67365" cy="368786"/>
            </a:xfrm>
            <a:custGeom>
              <a:avLst/>
              <a:gdLst/>
              <a:ahLst/>
              <a:cxnLst/>
              <a:rect r="r" b="b" t="t" l="l"/>
              <a:pathLst>
                <a:path h="368786" w="567365">
                  <a:moveTo>
                    <a:pt x="0" y="0"/>
                  </a:moveTo>
                  <a:lnTo>
                    <a:pt x="567365" y="0"/>
                  </a:lnTo>
                  <a:lnTo>
                    <a:pt x="567365" y="368786"/>
                  </a:lnTo>
                  <a:lnTo>
                    <a:pt x="0" y="36878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396" t="0" r="-33395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567360" cy="3592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 spc="-16">
                  <a:solidFill>
                    <a:srgbClr val="67534F"/>
                  </a:solidFill>
                  <a:latin typeface="Marcellus"/>
                  <a:ea typeface="Marcellus"/>
                  <a:cs typeface="Marcellus"/>
                  <a:sym typeface="Marcellus"/>
                </a:rPr>
                <a:t>02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230601" y="6201604"/>
            <a:ext cx="8078248" cy="28594"/>
            <a:chOff x="0" y="0"/>
            <a:chExt cx="10770997" cy="3812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70997" cy="38100"/>
            </a:xfrm>
            <a:custGeom>
              <a:avLst/>
              <a:gdLst/>
              <a:ahLst/>
              <a:cxnLst/>
              <a:rect r="r" b="b" t="t" l="l"/>
              <a:pathLst>
                <a:path h="38100" w="10770997">
                  <a:moveTo>
                    <a:pt x="0" y="0"/>
                  </a:moveTo>
                  <a:lnTo>
                    <a:pt x="10770997" y="0"/>
                  </a:lnTo>
                  <a:lnTo>
                    <a:pt x="1077099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954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230601" y="6336563"/>
            <a:ext cx="8078248" cy="426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401" spc="-24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PostgreSQL / SQL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30601" y="6867973"/>
            <a:ext cx="8078248" cy="23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65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Structured business analysis and customer segmentation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92991" y="7419518"/>
            <a:ext cx="425520" cy="276587"/>
            <a:chOff x="0" y="0"/>
            <a:chExt cx="567360" cy="36878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67365" cy="368786"/>
            </a:xfrm>
            <a:custGeom>
              <a:avLst/>
              <a:gdLst/>
              <a:ahLst/>
              <a:cxnLst/>
              <a:rect r="r" b="b" t="t" l="l"/>
              <a:pathLst>
                <a:path h="368786" w="567365">
                  <a:moveTo>
                    <a:pt x="0" y="0"/>
                  </a:moveTo>
                  <a:lnTo>
                    <a:pt x="567365" y="0"/>
                  </a:lnTo>
                  <a:lnTo>
                    <a:pt x="567365" y="368786"/>
                  </a:lnTo>
                  <a:lnTo>
                    <a:pt x="0" y="36878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396" t="0" r="-33395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9525"/>
              <a:ext cx="567360" cy="3592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 spc="-16">
                  <a:solidFill>
                    <a:srgbClr val="67534F"/>
                  </a:solidFill>
                  <a:latin typeface="Marcellus"/>
                  <a:ea typeface="Marcellus"/>
                  <a:cs typeface="Marcellus"/>
                  <a:sym typeface="Marcellus"/>
                </a:rPr>
                <a:t>03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92991" y="7763132"/>
            <a:ext cx="8078105" cy="28594"/>
            <a:chOff x="0" y="0"/>
            <a:chExt cx="10770806" cy="3812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770743" cy="38100"/>
            </a:xfrm>
            <a:custGeom>
              <a:avLst/>
              <a:gdLst/>
              <a:ahLst/>
              <a:cxnLst/>
              <a:rect r="r" b="b" t="t" l="l"/>
              <a:pathLst>
                <a:path h="38100" w="10770743">
                  <a:moveTo>
                    <a:pt x="0" y="0"/>
                  </a:moveTo>
                  <a:lnTo>
                    <a:pt x="10770743" y="0"/>
                  </a:lnTo>
                  <a:lnTo>
                    <a:pt x="1077074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954F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92991" y="7898101"/>
            <a:ext cx="8078105" cy="426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401" spc="-24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Power BI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2991" y="8429501"/>
            <a:ext cx="8078105" cy="23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65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Interactive visualization and stakeholder dashboards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230601" y="7419518"/>
            <a:ext cx="425520" cy="276587"/>
            <a:chOff x="0" y="0"/>
            <a:chExt cx="567360" cy="36878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67365" cy="368786"/>
            </a:xfrm>
            <a:custGeom>
              <a:avLst/>
              <a:gdLst/>
              <a:ahLst/>
              <a:cxnLst/>
              <a:rect r="r" b="b" t="t" l="l"/>
              <a:pathLst>
                <a:path h="368786" w="567365">
                  <a:moveTo>
                    <a:pt x="0" y="0"/>
                  </a:moveTo>
                  <a:lnTo>
                    <a:pt x="567365" y="0"/>
                  </a:lnTo>
                  <a:lnTo>
                    <a:pt x="567365" y="368786"/>
                  </a:lnTo>
                  <a:lnTo>
                    <a:pt x="0" y="36878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396" t="0" r="-33395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9525"/>
              <a:ext cx="567360" cy="3592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 spc="-16">
                  <a:solidFill>
                    <a:srgbClr val="67534F"/>
                  </a:solidFill>
                  <a:latin typeface="Marcellus"/>
                  <a:ea typeface="Marcellus"/>
                  <a:cs typeface="Marcellus"/>
                  <a:sym typeface="Marcellus"/>
                </a:rPr>
                <a:t>04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230601" y="7763132"/>
            <a:ext cx="8078248" cy="28594"/>
            <a:chOff x="0" y="0"/>
            <a:chExt cx="10770997" cy="3812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770997" cy="38100"/>
            </a:xfrm>
            <a:custGeom>
              <a:avLst/>
              <a:gdLst/>
              <a:ahLst/>
              <a:cxnLst/>
              <a:rect r="r" b="b" t="t" l="l"/>
              <a:pathLst>
                <a:path h="38100" w="10770997">
                  <a:moveTo>
                    <a:pt x="0" y="0"/>
                  </a:moveTo>
                  <a:lnTo>
                    <a:pt x="10770997" y="0"/>
                  </a:lnTo>
                  <a:lnTo>
                    <a:pt x="1077099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954F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9230601" y="7898101"/>
            <a:ext cx="8078248" cy="426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401" spc="-24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Insights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230601" y="8429501"/>
            <a:ext cx="8078248" cy="23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65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Actionable business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EC8A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513608"/>
            <a:ext cx="16315868" cy="842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25"/>
              </a:lnSpc>
            </a:pPr>
            <a:r>
              <a:rPr lang="en-US" sz="4803" spc="-48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Building a Reliable Analytical Foundation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2726903"/>
            <a:ext cx="7898330" cy="426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401" spc="-24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Python — Data Preparation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2991" y="3332636"/>
            <a:ext cx="3869331" cy="2405605"/>
          </a:xfrm>
          <a:custGeom>
            <a:avLst/>
            <a:gdLst/>
            <a:ahLst/>
            <a:cxnLst/>
            <a:rect r="r" b="b" t="t" l="l"/>
            <a:pathLst>
              <a:path h="2405605" w="3869331">
                <a:moveTo>
                  <a:pt x="0" y="0"/>
                </a:moveTo>
                <a:lnTo>
                  <a:pt x="3869331" y="0"/>
                </a:lnTo>
                <a:lnTo>
                  <a:pt x="3869331" y="2405605"/>
                </a:lnTo>
                <a:lnTo>
                  <a:pt x="0" y="24056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90" r="0" b="-19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48654" y="3545348"/>
            <a:ext cx="3272380" cy="426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401" spc="-24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Inspection &amp; Profiling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8654" y="4140651"/>
            <a:ext cx="3272380" cy="47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65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Data profiling using pandas; duplicate and quality checks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5021837" y="3332636"/>
            <a:ext cx="3869484" cy="2405605"/>
          </a:xfrm>
          <a:custGeom>
            <a:avLst/>
            <a:gdLst/>
            <a:ahLst/>
            <a:cxnLst/>
            <a:rect r="r" b="b" t="t" l="l"/>
            <a:pathLst>
              <a:path h="2405605" w="3869484">
                <a:moveTo>
                  <a:pt x="0" y="0"/>
                </a:moveTo>
                <a:lnTo>
                  <a:pt x="3869484" y="0"/>
                </a:lnTo>
                <a:lnTo>
                  <a:pt x="3869484" y="2405605"/>
                </a:lnTo>
                <a:lnTo>
                  <a:pt x="0" y="24056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92" r="0" b="-192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377510" y="3545348"/>
            <a:ext cx="3272523" cy="823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401" spc="-24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Missing Value Treatment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77510" y="4538329"/>
            <a:ext cx="3272523" cy="95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651" b="true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37 missing Review Rating values</a:t>
            </a:r>
            <a:r>
              <a:rPr lang="en-US" sz="165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identified and imputed using category-level median ratings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92991" y="5897756"/>
            <a:ext cx="3869331" cy="2269017"/>
          </a:xfrm>
          <a:custGeom>
            <a:avLst/>
            <a:gdLst/>
            <a:ahLst/>
            <a:cxnLst/>
            <a:rect r="r" b="b" t="t" l="l"/>
            <a:pathLst>
              <a:path h="2269017" w="3869331">
                <a:moveTo>
                  <a:pt x="0" y="0"/>
                </a:moveTo>
                <a:lnTo>
                  <a:pt x="3869331" y="0"/>
                </a:lnTo>
                <a:lnTo>
                  <a:pt x="3869331" y="2269017"/>
                </a:lnTo>
                <a:lnTo>
                  <a:pt x="0" y="22690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78" r="0" b="-278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48654" y="6110468"/>
            <a:ext cx="3272380" cy="426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401" spc="-24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Standardization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8654" y="6705771"/>
            <a:ext cx="3272380" cy="121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65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Data-type correction, categorical standardization, and feature engineering: age_group, purchase_frequency_days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5021837" y="5897756"/>
            <a:ext cx="3869484" cy="2269017"/>
          </a:xfrm>
          <a:custGeom>
            <a:avLst/>
            <a:gdLst/>
            <a:ahLst/>
            <a:cxnLst/>
            <a:rect r="r" b="b" t="t" l="l"/>
            <a:pathLst>
              <a:path h="2269017" w="3869484">
                <a:moveTo>
                  <a:pt x="0" y="0"/>
                </a:moveTo>
                <a:lnTo>
                  <a:pt x="3869484" y="0"/>
                </a:lnTo>
                <a:lnTo>
                  <a:pt x="3869484" y="2269017"/>
                </a:lnTo>
                <a:lnTo>
                  <a:pt x="0" y="22690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80" r="0" b="-28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377510" y="6110468"/>
            <a:ext cx="3272523" cy="426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401" spc="-24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PostgreSQL Integration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377510" y="6705771"/>
            <a:ext cx="3272523" cy="71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65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Clean dataset loaded for downstream structured analysis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20054" y="2726903"/>
            <a:ext cx="7898330" cy="426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401" spc="-24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SQL / PostgreSQL — Business Analysis</a:t>
            </a:r>
          </a:p>
        </p:txBody>
      </p:sp>
      <p:sp>
        <p:nvSpPr>
          <p:cNvPr name="Freeform 21" id="21" descr="preencoded.png"/>
          <p:cNvSpPr/>
          <p:nvPr/>
        </p:nvSpPr>
        <p:spPr>
          <a:xfrm flipH="false" flipV="false" rot="0">
            <a:off x="9420054" y="3332636"/>
            <a:ext cx="7898330" cy="1281817"/>
          </a:xfrm>
          <a:custGeom>
            <a:avLst/>
            <a:gdLst/>
            <a:ahLst/>
            <a:cxnLst/>
            <a:rect r="r" b="b" t="t" l="l"/>
            <a:pathLst>
              <a:path h="1281817" w="7898330">
                <a:moveTo>
                  <a:pt x="0" y="0"/>
                </a:moveTo>
                <a:lnTo>
                  <a:pt x="7898330" y="0"/>
                </a:lnTo>
                <a:lnTo>
                  <a:pt x="7898330" y="1281817"/>
                </a:lnTo>
                <a:lnTo>
                  <a:pt x="0" y="12818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82" r="0" b="-482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775727" y="3545348"/>
            <a:ext cx="7301370" cy="426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401" spc="-24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Customer Segmentation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75727" y="4140651"/>
            <a:ext cx="7301370" cy="23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65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Structured relational analysis across loyalty tiers and demographics</a:t>
            </a:r>
          </a:p>
        </p:txBody>
      </p:sp>
      <p:sp>
        <p:nvSpPr>
          <p:cNvPr name="Freeform 24" id="24" descr="preencoded.png"/>
          <p:cNvSpPr/>
          <p:nvPr/>
        </p:nvSpPr>
        <p:spPr>
          <a:xfrm flipH="false" flipV="false" rot="0">
            <a:off x="9420054" y="4773968"/>
            <a:ext cx="7898330" cy="1281817"/>
          </a:xfrm>
          <a:custGeom>
            <a:avLst/>
            <a:gdLst/>
            <a:ahLst/>
            <a:cxnLst/>
            <a:rect r="r" b="b" t="t" l="l"/>
            <a:pathLst>
              <a:path h="1281817" w="7898330">
                <a:moveTo>
                  <a:pt x="0" y="0"/>
                </a:moveTo>
                <a:lnTo>
                  <a:pt x="7898330" y="0"/>
                </a:lnTo>
                <a:lnTo>
                  <a:pt x="7898330" y="1281817"/>
                </a:lnTo>
                <a:lnTo>
                  <a:pt x="0" y="12818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82" r="0" b="-482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9775727" y="4986680"/>
            <a:ext cx="7301370" cy="426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401" spc="-24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Revenue Analysis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75727" y="5581983"/>
            <a:ext cx="7301370" cy="23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65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Repeat-purchase, subscription, and age-group revenue analysis</a:t>
            </a:r>
          </a:p>
        </p:txBody>
      </p:sp>
      <p:sp>
        <p:nvSpPr>
          <p:cNvPr name="Freeform 27" id="27" descr="preencoded.png"/>
          <p:cNvSpPr/>
          <p:nvPr/>
        </p:nvSpPr>
        <p:spPr>
          <a:xfrm flipH="false" flipV="false" rot="0">
            <a:off x="9420054" y="6215301"/>
            <a:ext cx="7898330" cy="1281817"/>
          </a:xfrm>
          <a:custGeom>
            <a:avLst/>
            <a:gdLst/>
            <a:ahLst/>
            <a:cxnLst/>
            <a:rect r="r" b="b" t="t" l="l"/>
            <a:pathLst>
              <a:path h="1281817" w="7898330">
                <a:moveTo>
                  <a:pt x="0" y="0"/>
                </a:moveTo>
                <a:lnTo>
                  <a:pt x="7898330" y="0"/>
                </a:lnTo>
                <a:lnTo>
                  <a:pt x="7898330" y="1281817"/>
                </a:lnTo>
                <a:lnTo>
                  <a:pt x="0" y="12818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82" r="0" b="-482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9775727" y="6428022"/>
            <a:ext cx="7301370" cy="426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401" spc="-24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Product &amp; Discount Evaluation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75727" y="7023325"/>
            <a:ext cx="7301370" cy="23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65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Category performance and discount rate analysis by product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420054" y="7676598"/>
            <a:ext cx="7898330" cy="877576"/>
            <a:chOff x="0" y="0"/>
            <a:chExt cx="10531107" cy="117010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531094" cy="1170051"/>
            </a:xfrm>
            <a:custGeom>
              <a:avLst/>
              <a:gdLst/>
              <a:ahLst/>
              <a:cxnLst/>
              <a:rect r="r" b="b" t="t" l="l"/>
              <a:pathLst>
                <a:path h="1170051" w="10531094">
                  <a:moveTo>
                    <a:pt x="0" y="119126"/>
                  </a:moveTo>
                  <a:cubicBezTo>
                    <a:pt x="0" y="53340"/>
                    <a:pt x="53340" y="0"/>
                    <a:pt x="119126" y="0"/>
                  </a:cubicBezTo>
                  <a:lnTo>
                    <a:pt x="10411968" y="0"/>
                  </a:lnTo>
                  <a:cubicBezTo>
                    <a:pt x="10477754" y="0"/>
                    <a:pt x="10531094" y="53340"/>
                    <a:pt x="10531094" y="119126"/>
                  </a:cubicBezTo>
                  <a:lnTo>
                    <a:pt x="10531094" y="1050925"/>
                  </a:lnTo>
                  <a:cubicBezTo>
                    <a:pt x="10531094" y="1116711"/>
                    <a:pt x="10477754" y="1170051"/>
                    <a:pt x="10411968" y="1170051"/>
                  </a:cubicBezTo>
                  <a:lnTo>
                    <a:pt x="119126" y="1170051"/>
                  </a:lnTo>
                  <a:cubicBezTo>
                    <a:pt x="53340" y="1170051"/>
                    <a:pt x="0" y="1116711"/>
                    <a:pt x="0" y="1050925"/>
                  </a:cubicBezTo>
                  <a:close/>
                </a:path>
              </a:pathLst>
            </a:custGeom>
            <a:solidFill>
              <a:srgbClr val="FFE0CC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632747" y="7893758"/>
            <a:ext cx="266005" cy="212693"/>
            <a:chOff x="0" y="0"/>
            <a:chExt cx="354673" cy="283591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354711" cy="283591"/>
            </a:xfrm>
            <a:custGeom>
              <a:avLst/>
              <a:gdLst/>
              <a:ahLst/>
              <a:cxnLst/>
              <a:rect r="r" b="b" t="t" l="l"/>
              <a:pathLst>
                <a:path h="283591" w="354711">
                  <a:moveTo>
                    <a:pt x="0" y="0"/>
                  </a:moveTo>
                  <a:lnTo>
                    <a:pt x="354711" y="0"/>
                  </a:lnTo>
                  <a:lnTo>
                    <a:pt x="354711" y="283591"/>
                  </a:lnTo>
                  <a:lnTo>
                    <a:pt x="0" y="283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365" r="10" b="-1365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0111435" y="7882880"/>
            <a:ext cx="6994255" cy="47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651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Python prepared the data; SQL translated business questions into measurable insights.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EC8A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66486"/>
            <a:ext cx="16315868" cy="385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 spc="-22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Customer Loyalty Is a Major Value Driver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1240260"/>
            <a:ext cx="5224986" cy="3760994"/>
            <a:chOff x="0" y="0"/>
            <a:chExt cx="6966648" cy="501465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6966712" cy="5014722"/>
            </a:xfrm>
            <a:custGeom>
              <a:avLst/>
              <a:gdLst/>
              <a:ahLst/>
              <a:cxnLst/>
              <a:rect r="r" b="b" t="t" l="l"/>
              <a:pathLst>
                <a:path h="5014722" w="6966712">
                  <a:moveTo>
                    <a:pt x="0" y="0"/>
                  </a:moveTo>
                  <a:lnTo>
                    <a:pt x="6966712" y="0"/>
                  </a:lnTo>
                  <a:lnTo>
                    <a:pt x="6966712" y="5014722"/>
                  </a:lnTo>
                  <a:lnTo>
                    <a:pt x="0" y="5014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2" t="0" r="-21" b="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279903" y="1226563"/>
            <a:ext cx="8038481" cy="19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1"/>
              </a:lnSpc>
            </a:pPr>
            <a:r>
              <a:rPr lang="en-US" sz="1050" spc="-10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Revenue by Gender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279903" y="1457125"/>
            <a:ext cx="5224986" cy="3760994"/>
            <a:chOff x="0" y="0"/>
            <a:chExt cx="6966648" cy="5014658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6966712" cy="5014722"/>
            </a:xfrm>
            <a:custGeom>
              <a:avLst/>
              <a:gdLst/>
              <a:ahLst/>
              <a:cxnLst/>
              <a:rect r="r" b="b" t="t" l="l"/>
              <a:pathLst>
                <a:path h="5014722" w="6966712">
                  <a:moveTo>
                    <a:pt x="0" y="0"/>
                  </a:moveTo>
                  <a:lnTo>
                    <a:pt x="6966712" y="0"/>
                  </a:lnTo>
                  <a:lnTo>
                    <a:pt x="6966712" y="5014722"/>
                  </a:lnTo>
                  <a:lnTo>
                    <a:pt x="0" y="5014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" t="0" r="-21" b="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279903" y="5246580"/>
            <a:ext cx="8038481" cy="19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1"/>
              </a:lnSpc>
            </a:pPr>
            <a:r>
              <a:rPr lang="en-US" sz="1050" spc="-10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Revenue by Age Group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79903" y="5477132"/>
            <a:ext cx="5224986" cy="3760994"/>
            <a:chOff x="0" y="0"/>
            <a:chExt cx="6966648" cy="5014658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6966712" cy="5014722"/>
            </a:xfrm>
            <a:custGeom>
              <a:avLst/>
              <a:gdLst/>
              <a:ahLst/>
              <a:cxnLst/>
              <a:rect r="r" b="b" t="t" l="l"/>
              <a:pathLst>
                <a:path h="5014722" w="6966712">
                  <a:moveTo>
                    <a:pt x="0" y="0"/>
                  </a:moveTo>
                  <a:lnTo>
                    <a:pt x="6966712" y="0"/>
                  </a:lnTo>
                  <a:lnTo>
                    <a:pt x="6966712" y="5014722"/>
                  </a:lnTo>
                  <a:lnTo>
                    <a:pt x="0" y="5014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" t="0" r="-21" b="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279903" y="9276112"/>
            <a:ext cx="8038481" cy="195262"/>
            <a:chOff x="0" y="0"/>
            <a:chExt cx="10717974" cy="2603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17911" cy="260350"/>
            </a:xfrm>
            <a:custGeom>
              <a:avLst/>
              <a:gdLst/>
              <a:ahLst/>
              <a:cxnLst/>
              <a:rect r="r" b="b" t="t" l="l"/>
              <a:pathLst>
                <a:path h="260350" w="10717911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10663047" y="0"/>
                  </a:lnTo>
                  <a:cubicBezTo>
                    <a:pt x="10693400" y="0"/>
                    <a:pt x="10717911" y="24511"/>
                    <a:pt x="10717911" y="54864"/>
                  </a:cubicBezTo>
                  <a:lnTo>
                    <a:pt x="10717911" y="205486"/>
                  </a:lnTo>
                  <a:cubicBezTo>
                    <a:pt x="10717911" y="235839"/>
                    <a:pt x="10693400" y="260350"/>
                    <a:pt x="10663047" y="260350"/>
                  </a:cubicBezTo>
                  <a:lnTo>
                    <a:pt x="54864" y="260350"/>
                  </a:lnTo>
                  <a:cubicBezTo>
                    <a:pt x="24511" y="260350"/>
                    <a:pt x="0" y="235839"/>
                    <a:pt x="0" y="205486"/>
                  </a:cubicBezTo>
                  <a:close/>
                </a:path>
              </a:pathLst>
            </a:custGeom>
            <a:solidFill>
              <a:srgbClr val="FFE0C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377753" y="9334348"/>
            <a:ext cx="122434" cy="97860"/>
            <a:chOff x="0" y="0"/>
            <a:chExt cx="163246" cy="13048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63195" cy="130429"/>
            </a:xfrm>
            <a:custGeom>
              <a:avLst/>
              <a:gdLst/>
              <a:ahLst/>
              <a:cxnLst/>
              <a:rect r="r" b="b" t="t" l="l"/>
              <a:pathLst>
                <a:path h="130429" w="163195">
                  <a:moveTo>
                    <a:pt x="0" y="0"/>
                  </a:moveTo>
                  <a:lnTo>
                    <a:pt x="163195" y="0"/>
                  </a:lnTo>
                  <a:lnTo>
                    <a:pt x="163195" y="130429"/>
                  </a:lnTo>
                  <a:lnTo>
                    <a:pt x="0" y="130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930" r="-31" b="-2969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598038" y="9349978"/>
            <a:ext cx="8537581" cy="66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"/>
              </a:lnSpc>
            </a:pPr>
            <a:r>
              <a:rPr lang="en-US" sz="7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Young Adult and Middle-aged customers generate the highest reported revenue among the age groups analyzed.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EC8A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846639"/>
            <a:ext cx="16315868" cy="896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4"/>
              </a:lnSpc>
            </a:pPr>
            <a:r>
              <a:rPr lang="en-US" sz="5103" spc="-51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Subscription Adoption and Discount Behavior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2167909"/>
            <a:ext cx="7881052" cy="452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 spc="-25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Subscription Status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991" y="2824877"/>
            <a:ext cx="6304807" cy="4538339"/>
            <a:chOff x="0" y="0"/>
            <a:chExt cx="8406409" cy="6051118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406384" cy="6051169"/>
            </a:xfrm>
            <a:custGeom>
              <a:avLst/>
              <a:gdLst/>
              <a:ahLst/>
              <a:cxnLst/>
              <a:rect r="r" b="b" t="t" l="l"/>
              <a:pathLst>
                <a:path h="6051169" w="8406384">
                  <a:moveTo>
                    <a:pt x="0" y="0"/>
                  </a:moveTo>
                  <a:lnTo>
                    <a:pt x="8406384" y="0"/>
                  </a:lnTo>
                  <a:lnTo>
                    <a:pt x="8406384" y="6051169"/>
                  </a:lnTo>
                  <a:lnTo>
                    <a:pt x="0" y="6051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0" r="0" b="-4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83456" y="7557887"/>
            <a:ext cx="3868741" cy="1648073"/>
            <a:chOff x="0" y="0"/>
            <a:chExt cx="5158321" cy="21974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58359" cy="2197481"/>
            </a:xfrm>
            <a:custGeom>
              <a:avLst/>
              <a:gdLst/>
              <a:ahLst/>
              <a:cxnLst/>
              <a:rect r="r" b="b" t="t" l="l"/>
              <a:pathLst>
                <a:path h="2197481" w="5158359">
                  <a:moveTo>
                    <a:pt x="0" y="128651"/>
                  </a:moveTo>
                  <a:cubicBezTo>
                    <a:pt x="0" y="57531"/>
                    <a:pt x="57531" y="0"/>
                    <a:pt x="128651" y="0"/>
                  </a:cubicBezTo>
                  <a:lnTo>
                    <a:pt x="5029708" y="0"/>
                  </a:lnTo>
                  <a:cubicBezTo>
                    <a:pt x="5100701" y="0"/>
                    <a:pt x="5158359" y="57531"/>
                    <a:pt x="5158359" y="128651"/>
                  </a:cubicBezTo>
                  <a:lnTo>
                    <a:pt x="5158359" y="2068830"/>
                  </a:lnTo>
                  <a:cubicBezTo>
                    <a:pt x="5158359" y="2139823"/>
                    <a:pt x="5100828" y="2197481"/>
                    <a:pt x="5029708" y="2197481"/>
                  </a:cubicBezTo>
                  <a:lnTo>
                    <a:pt x="128651" y="2197481"/>
                  </a:lnTo>
                  <a:cubicBezTo>
                    <a:pt x="57531" y="2197481"/>
                    <a:pt x="0" y="2139823"/>
                    <a:pt x="0" y="2068830"/>
                  </a:cubicBezTo>
                  <a:close/>
                </a:path>
              </a:pathLst>
            </a:custGeom>
            <a:solidFill>
              <a:srgbClr val="FFFFF4"/>
            </a:solidFill>
            <a:ln w="19065" cap="sq">
              <a:solidFill>
                <a:srgbClr val="FFE0CC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239041" y="7784906"/>
            <a:ext cx="3357572" cy="452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 spc="-25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Subscribers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9041" y="8419233"/>
            <a:ext cx="3357572" cy="53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9"/>
              </a:lnSpc>
            </a:pPr>
            <a:r>
              <a:rPr lang="en-US" sz="1726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Avg: $59.49 | Revenue: $62,645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014684" y="7557887"/>
            <a:ext cx="3868884" cy="1648073"/>
            <a:chOff x="0" y="0"/>
            <a:chExt cx="5158511" cy="21974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58613" cy="2197481"/>
            </a:xfrm>
            <a:custGeom>
              <a:avLst/>
              <a:gdLst/>
              <a:ahLst/>
              <a:cxnLst/>
              <a:rect r="r" b="b" t="t" l="l"/>
              <a:pathLst>
                <a:path h="2197481" w="5158613">
                  <a:moveTo>
                    <a:pt x="0" y="128651"/>
                  </a:moveTo>
                  <a:cubicBezTo>
                    <a:pt x="0" y="57531"/>
                    <a:pt x="57531" y="0"/>
                    <a:pt x="128651" y="0"/>
                  </a:cubicBezTo>
                  <a:lnTo>
                    <a:pt x="5029962" y="0"/>
                  </a:lnTo>
                  <a:cubicBezTo>
                    <a:pt x="5100955" y="0"/>
                    <a:pt x="5158613" y="57531"/>
                    <a:pt x="5158613" y="128651"/>
                  </a:cubicBezTo>
                  <a:lnTo>
                    <a:pt x="5158613" y="2068830"/>
                  </a:lnTo>
                  <a:cubicBezTo>
                    <a:pt x="5158613" y="2139823"/>
                    <a:pt x="5101082" y="2197481"/>
                    <a:pt x="5029962" y="2197481"/>
                  </a:cubicBezTo>
                  <a:lnTo>
                    <a:pt x="128651" y="2197481"/>
                  </a:lnTo>
                  <a:cubicBezTo>
                    <a:pt x="57531" y="2197481"/>
                    <a:pt x="0" y="2139823"/>
                    <a:pt x="0" y="2068830"/>
                  </a:cubicBezTo>
                  <a:close/>
                </a:path>
              </a:pathLst>
            </a:custGeom>
            <a:solidFill>
              <a:srgbClr val="FFFFF4"/>
            </a:solidFill>
            <a:ln w="19065" cap="sq">
              <a:solidFill>
                <a:srgbClr val="FFE0CC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5270268" y="7784906"/>
            <a:ext cx="3357724" cy="452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 spc="-25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Non-subscribers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70268" y="8419233"/>
            <a:ext cx="3357724" cy="53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9"/>
              </a:lnSpc>
            </a:pPr>
            <a:r>
              <a:rPr lang="en-US" sz="1726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Avg: $59.87 | Revenue: $170,436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37332" y="2167909"/>
            <a:ext cx="7881052" cy="452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 spc="-25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Top Products by Discount Rate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437332" y="2824877"/>
            <a:ext cx="6304807" cy="4538339"/>
            <a:chOff x="0" y="0"/>
            <a:chExt cx="8406409" cy="6051118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8406384" cy="6051169"/>
            </a:xfrm>
            <a:custGeom>
              <a:avLst/>
              <a:gdLst/>
              <a:ahLst/>
              <a:cxnLst/>
              <a:rect r="r" b="b" t="t" l="l"/>
              <a:pathLst>
                <a:path h="6051169" w="8406384">
                  <a:moveTo>
                    <a:pt x="0" y="0"/>
                  </a:moveTo>
                  <a:lnTo>
                    <a:pt x="8406384" y="0"/>
                  </a:lnTo>
                  <a:lnTo>
                    <a:pt x="8406384" y="6051169"/>
                  </a:lnTo>
                  <a:lnTo>
                    <a:pt x="0" y="6051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0" r="0" b="-49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437332" y="7567422"/>
            <a:ext cx="7881052" cy="79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9"/>
              </a:lnSpc>
            </a:pPr>
            <a:r>
              <a:rPr lang="en-US" sz="1726" b="true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839</a:t>
            </a:r>
            <a:r>
              <a:rPr lang="en-US" sz="1726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customers used discounts while spending above the average purchase amount — an opportunity to evaluate promotional effectiveness and optimize discount strategy.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EC8A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982770"/>
            <a:ext cx="16315868" cy="842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25"/>
              </a:lnSpc>
            </a:pPr>
            <a:r>
              <a:rPr lang="en-US" sz="4803" spc="-48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Product Performance Reveals Merchandising Opportunities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2196055"/>
            <a:ext cx="7898330" cy="426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401" spc="-24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Top-Rated Products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991" y="2801798"/>
            <a:ext cx="5923674" cy="4263981"/>
            <a:chOff x="0" y="0"/>
            <a:chExt cx="7898232" cy="5685307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7898257" cy="5685282"/>
            </a:xfrm>
            <a:custGeom>
              <a:avLst/>
              <a:gdLst/>
              <a:ahLst/>
              <a:cxnLst/>
              <a:rect r="r" b="b" t="t" l="l"/>
              <a:pathLst>
                <a:path h="5685282" w="7898257">
                  <a:moveTo>
                    <a:pt x="0" y="0"/>
                  </a:moveTo>
                  <a:lnTo>
                    <a:pt x="7898257" y="0"/>
                  </a:lnTo>
                  <a:lnTo>
                    <a:pt x="7898257" y="5685282"/>
                  </a:lnTo>
                  <a:lnTo>
                    <a:pt x="0" y="5685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0" r="0" b="-3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7216683"/>
            <a:ext cx="7898330" cy="426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401" spc="-24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Shipping Impact on Purchase Amount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83456" y="7812881"/>
            <a:ext cx="7917390" cy="1281817"/>
            <a:chOff x="0" y="0"/>
            <a:chExt cx="10556519" cy="17090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56622" cy="1709166"/>
            </a:xfrm>
            <a:custGeom>
              <a:avLst/>
              <a:gdLst/>
              <a:ahLst/>
              <a:cxnLst/>
              <a:rect r="r" b="b" t="t" l="l"/>
              <a:pathLst>
                <a:path h="1709166" w="10556622">
                  <a:moveTo>
                    <a:pt x="0" y="121031"/>
                  </a:moveTo>
                  <a:cubicBezTo>
                    <a:pt x="0" y="54102"/>
                    <a:pt x="54102" y="0"/>
                    <a:pt x="121031" y="0"/>
                  </a:cubicBezTo>
                  <a:lnTo>
                    <a:pt x="10435590" y="0"/>
                  </a:lnTo>
                  <a:cubicBezTo>
                    <a:pt x="10502392" y="0"/>
                    <a:pt x="10556622" y="54102"/>
                    <a:pt x="10556622" y="121031"/>
                  </a:cubicBezTo>
                  <a:lnTo>
                    <a:pt x="10556622" y="1588135"/>
                  </a:lnTo>
                  <a:cubicBezTo>
                    <a:pt x="10556622" y="1654937"/>
                    <a:pt x="10502519" y="1709166"/>
                    <a:pt x="10435590" y="1709166"/>
                  </a:cubicBezTo>
                  <a:lnTo>
                    <a:pt x="121031" y="1709166"/>
                  </a:lnTo>
                  <a:cubicBezTo>
                    <a:pt x="54229" y="1709166"/>
                    <a:pt x="0" y="1655064"/>
                    <a:pt x="0" y="1588135"/>
                  </a:cubicBezTo>
                  <a:close/>
                </a:path>
              </a:pathLst>
            </a:custGeom>
            <a:solidFill>
              <a:srgbClr val="FFFFF4"/>
            </a:solidFill>
            <a:ln w="19065" cap="sq">
              <a:solidFill>
                <a:srgbClr val="FFE0CC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12050" y="7841485"/>
            <a:ext cx="3930101" cy="1224620"/>
            <a:chOff x="0" y="0"/>
            <a:chExt cx="5240134" cy="16328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40147" cy="1632839"/>
            </a:xfrm>
            <a:custGeom>
              <a:avLst/>
              <a:gdLst/>
              <a:ahLst/>
              <a:cxnLst/>
              <a:rect r="r" b="b" t="t" l="l"/>
              <a:pathLst>
                <a:path h="1632839" w="5240147">
                  <a:moveTo>
                    <a:pt x="99314" y="0"/>
                  </a:moveTo>
                  <a:lnTo>
                    <a:pt x="5240147" y="0"/>
                  </a:lnTo>
                  <a:lnTo>
                    <a:pt x="5240147" y="1632839"/>
                  </a:lnTo>
                  <a:lnTo>
                    <a:pt x="99314" y="1632839"/>
                  </a:lnTo>
                  <a:cubicBezTo>
                    <a:pt x="44450" y="1632839"/>
                    <a:pt x="0" y="1588389"/>
                    <a:pt x="0" y="1533525"/>
                  </a:cubicBezTo>
                  <a:lnTo>
                    <a:pt x="0" y="99314"/>
                  </a:lnTo>
                  <a:cubicBezTo>
                    <a:pt x="0" y="44450"/>
                    <a:pt x="44450" y="0"/>
                    <a:pt x="99314" y="0"/>
                  </a:cubicBezTo>
                  <a:close/>
                </a:path>
              </a:pathLst>
            </a:custGeom>
            <a:solidFill>
              <a:srgbClr val="FFFFF4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24744" y="8025603"/>
            <a:ext cx="3504724" cy="426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401" spc="-24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Standard Shipping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4744" y="8620897"/>
            <a:ext cx="3504724" cy="23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65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$58.46 avg purchase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942151" y="7841485"/>
            <a:ext cx="3930101" cy="1224620"/>
            <a:chOff x="0" y="0"/>
            <a:chExt cx="5240134" cy="16328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240147" cy="1632839"/>
            </a:xfrm>
            <a:custGeom>
              <a:avLst/>
              <a:gdLst/>
              <a:ahLst/>
              <a:cxnLst/>
              <a:rect r="r" b="b" t="t" l="l"/>
              <a:pathLst>
                <a:path h="1632839" w="5240147">
                  <a:moveTo>
                    <a:pt x="0" y="0"/>
                  </a:moveTo>
                  <a:lnTo>
                    <a:pt x="5140833" y="0"/>
                  </a:lnTo>
                  <a:cubicBezTo>
                    <a:pt x="5195697" y="0"/>
                    <a:pt x="5240147" y="44450"/>
                    <a:pt x="5240147" y="99314"/>
                  </a:cubicBezTo>
                  <a:lnTo>
                    <a:pt x="5240147" y="1533525"/>
                  </a:lnTo>
                  <a:cubicBezTo>
                    <a:pt x="5240147" y="1588389"/>
                    <a:pt x="5195697" y="1632839"/>
                    <a:pt x="5140833" y="1632839"/>
                  </a:cubicBezTo>
                  <a:lnTo>
                    <a:pt x="0" y="16328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4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942151" y="7841485"/>
            <a:ext cx="28594" cy="1224620"/>
            <a:chOff x="0" y="0"/>
            <a:chExt cx="38125" cy="163282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100" cy="1632839"/>
            </a:xfrm>
            <a:custGeom>
              <a:avLst/>
              <a:gdLst/>
              <a:ahLst/>
              <a:cxnLst/>
              <a:rect r="r" b="b" t="t" l="l"/>
              <a:pathLst>
                <a:path h="1632839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613789"/>
                  </a:lnTo>
                  <a:cubicBezTo>
                    <a:pt x="38100" y="1624330"/>
                    <a:pt x="29591" y="1632839"/>
                    <a:pt x="19050" y="1632839"/>
                  </a:cubicBezTo>
                  <a:cubicBezTo>
                    <a:pt x="8509" y="1632839"/>
                    <a:pt x="0" y="1624330"/>
                    <a:pt x="0" y="1613789"/>
                  </a:cubicBezTo>
                  <a:close/>
                </a:path>
              </a:pathLst>
            </a:custGeom>
            <a:solidFill>
              <a:srgbClr val="FFE0CC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5154844" y="8025603"/>
            <a:ext cx="3504724" cy="426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401" spc="-24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Express Shipping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54844" y="8620897"/>
            <a:ext cx="3504724" cy="23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65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$60.48 avg purchase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20054" y="2196055"/>
            <a:ext cx="7898330" cy="426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401" spc="-24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Top Products by Category</a:t>
            </a:r>
          </a:p>
        </p:txBody>
      </p:sp>
      <p:graphicFrame>
        <p:nvGraphicFramePr>
          <p:cNvPr name="Table 24" id="24"/>
          <p:cNvGraphicFramePr>
            <a:graphicFrameLocks noGrp="true"/>
          </p:cNvGraphicFramePr>
          <p:nvPr/>
        </p:nvGraphicFramePr>
        <p:xfrm>
          <a:off x="9420056" y="2801795"/>
          <a:ext cx="7892866" cy="2935994"/>
        </p:xfrm>
        <a:graphic>
          <a:graphicData uri="http://schemas.openxmlformats.org/drawingml/2006/table">
            <a:tbl>
              <a:tblPr/>
              <a:tblGrid>
                <a:gridCol w="3946433"/>
                <a:gridCol w="3946433"/>
              </a:tblGrid>
              <a:tr h="45203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67534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Category</a:t>
                      </a:r>
                      <a:endParaRPr lang="en-US" sz="1100"/>
                    </a:p>
                  </a:txBody>
                  <a:tcPr marL="141764" marR="141764" marT="141764" marB="141764" anchor="ctr">
                    <a:lnL cmpd="sng" algn="ctr" cap="flat" w="12700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67534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Top Products (Orders)</a:t>
                      </a:r>
                      <a:endParaRPr lang="en-US" sz="1100"/>
                    </a:p>
                  </a:txBody>
                  <a:tcPr marL="141764" marR="141764" marT="141764" marB="141764" anchor="ctr">
                    <a:lnL cmpd="sng" algn="ctr" cap="flat" w="12700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</a:tr>
              <a:tr h="6773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67534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Accessories</a:t>
                      </a:r>
                      <a:endParaRPr lang="en-US" sz="1100"/>
                    </a:p>
                  </a:txBody>
                  <a:tcPr marL="141764" marR="141764" marT="141764" marB="141764" anchor="ctr">
                    <a:lnL cmpd="sng" algn="ctr" cap="flat" w="12700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67534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Jewelry (171), Sunglasses (161), Belt (161)</a:t>
                      </a:r>
                      <a:endParaRPr lang="en-US" sz="1100"/>
                    </a:p>
                  </a:txBody>
                  <a:tcPr marL="141764" marR="141764" marT="141764" marB="141764" anchor="ctr">
                    <a:lnL cmpd="sng" algn="ctr" cap="flat" w="12700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</a:tr>
              <a:tr h="6773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67534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Clothing</a:t>
                      </a:r>
                      <a:endParaRPr lang="en-US" sz="1100"/>
                    </a:p>
                  </a:txBody>
                  <a:tcPr marL="141764" marR="141764" marT="141764" marB="141764" anchor="ctr">
                    <a:lnL cmpd="sng" algn="ctr" cap="flat" w="12700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67534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Blouse (171), Pants (171), Shirt (169)</a:t>
                      </a:r>
                      <a:endParaRPr lang="en-US" sz="1100"/>
                    </a:p>
                  </a:txBody>
                  <a:tcPr marL="141764" marR="141764" marT="141764" marB="141764" anchor="ctr">
                    <a:lnL cmpd="sng" algn="ctr" cap="flat" w="12700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</a:tr>
              <a:tr h="6773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67534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Footwear</a:t>
                      </a:r>
                      <a:endParaRPr lang="en-US" sz="1100"/>
                    </a:p>
                  </a:txBody>
                  <a:tcPr marL="141764" marR="141764" marT="141764" marB="141764" anchor="ctr">
                    <a:lnL cmpd="sng" algn="ctr" cap="flat" w="12700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67534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Sandals (160), Shoes (150), Sneakers (145)</a:t>
                      </a:r>
                      <a:endParaRPr lang="en-US" sz="1100"/>
                    </a:p>
                  </a:txBody>
                  <a:tcPr marL="141764" marR="141764" marT="141764" marB="141764" anchor="ctr">
                    <a:lnL cmpd="sng" algn="ctr" cap="flat" w="12700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</a:tr>
              <a:tr h="45203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67534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Outerwear</a:t>
                      </a:r>
                      <a:endParaRPr lang="en-US" sz="1100"/>
                    </a:p>
                  </a:txBody>
                  <a:tcPr marL="141764" marR="141764" marT="141764" marB="141764" anchor="ctr">
                    <a:lnL cmpd="sng" algn="ctr" cap="flat" w="12700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67534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Jacket (163), Coat (161)</a:t>
                      </a:r>
                      <a:endParaRPr lang="en-US" sz="1100"/>
                    </a:p>
                  </a:txBody>
                  <a:tcPr marL="141764" marR="141764" marT="141764" marB="141764" anchor="ctr">
                    <a:lnL cmpd="sng" algn="ctr" cap="flat" w="12700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</a:tr>
            </a:tbl>
          </a:graphicData>
        </a:graphic>
      </p:graphicFrame>
      <p:grpSp>
        <p:nvGrpSpPr>
          <p:cNvPr name="Group 25" id="25"/>
          <p:cNvGrpSpPr/>
          <p:nvPr/>
        </p:nvGrpSpPr>
        <p:grpSpPr>
          <a:xfrm rot="0">
            <a:off x="9420054" y="6026296"/>
            <a:ext cx="7898330" cy="1119616"/>
            <a:chOff x="0" y="0"/>
            <a:chExt cx="10531107" cy="149282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531094" cy="1492758"/>
            </a:xfrm>
            <a:custGeom>
              <a:avLst/>
              <a:gdLst/>
              <a:ahLst/>
              <a:cxnLst/>
              <a:rect r="r" b="b" t="t" l="l"/>
              <a:pathLst>
                <a:path h="1492758" w="10531094">
                  <a:moveTo>
                    <a:pt x="0" y="119126"/>
                  </a:moveTo>
                  <a:cubicBezTo>
                    <a:pt x="0" y="53340"/>
                    <a:pt x="53340" y="0"/>
                    <a:pt x="119126" y="0"/>
                  </a:cubicBezTo>
                  <a:lnTo>
                    <a:pt x="10411968" y="0"/>
                  </a:lnTo>
                  <a:cubicBezTo>
                    <a:pt x="10477754" y="0"/>
                    <a:pt x="10531094" y="53340"/>
                    <a:pt x="10531094" y="119126"/>
                  </a:cubicBezTo>
                  <a:lnTo>
                    <a:pt x="10531094" y="1373632"/>
                  </a:lnTo>
                  <a:cubicBezTo>
                    <a:pt x="10531094" y="1439418"/>
                    <a:pt x="10477754" y="1492758"/>
                    <a:pt x="10411968" y="1492758"/>
                  </a:cubicBezTo>
                  <a:lnTo>
                    <a:pt x="119126" y="1492758"/>
                  </a:lnTo>
                  <a:cubicBezTo>
                    <a:pt x="53340" y="1492758"/>
                    <a:pt x="0" y="1439418"/>
                    <a:pt x="0" y="1373632"/>
                  </a:cubicBezTo>
                  <a:close/>
                </a:path>
              </a:pathLst>
            </a:custGeom>
            <a:solidFill>
              <a:srgbClr val="FFE0CC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32747" y="6243457"/>
            <a:ext cx="266005" cy="212693"/>
            <a:chOff x="0" y="0"/>
            <a:chExt cx="354673" cy="283591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354711" cy="283591"/>
            </a:xfrm>
            <a:custGeom>
              <a:avLst/>
              <a:gdLst/>
              <a:ahLst/>
              <a:cxnLst/>
              <a:rect r="r" b="b" t="t" l="l"/>
              <a:pathLst>
                <a:path h="283591" w="354711">
                  <a:moveTo>
                    <a:pt x="0" y="0"/>
                  </a:moveTo>
                  <a:lnTo>
                    <a:pt x="354711" y="0"/>
                  </a:lnTo>
                  <a:lnTo>
                    <a:pt x="354711" y="283591"/>
                  </a:lnTo>
                  <a:lnTo>
                    <a:pt x="0" y="283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65" r="10" b="-1365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0111435" y="6232579"/>
            <a:ext cx="6994255" cy="71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65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Highly rated and frequently purchased products provide useful signals for product positioning, merchandising, and marketing decisions.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EC8A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7206348" cy="10295039"/>
            <a:chOff x="0" y="0"/>
            <a:chExt cx="9608464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0843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608439">
                  <a:moveTo>
                    <a:pt x="0" y="0"/>
                  </a:moveTo>
                  <a:lnTo>
                    <a:pt x="9608439" y="0"/>
                  </a:lnTo>
                  <a:lnTo>
                    <a:pt x="9608439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6182" y="1644682"/>
            <a:ext cx="9452677" cy="185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3"/>
              </a:lnSpc>
            </a:pPr>
            <a:r>
              <a:rPr lang="en-US" sz="5404" spc="-54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Power BI — Turning Analysis into Interactive Insights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7856182" y="3802551"/>
            <a:ext cx="602913" cy="602933"/>
          </a:xfrm>
          <a:custGeom>
            <a:avLst/>
            <a:gdLst/>
            <a:ahLst/>
            <a:cxnLst/>
            <a:rect r="r" b="b" t="t" l="l"/>
            <a:pathLst>
              <a:path h="602933" w="602913">
                <a:moveTo>
                  <a:pt x="0" y="0"/>
                </a:moveTo>
                <a:lnTo>
                  <a:pt x="602913" y="0"/>
                </a:lnTo>
                <a:lnTo>
                  <a:pt x="602913" y="602933"/>
                </a:lnTo>
                <a:lnTo>
                  <a:pt x="0" y="6029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82" t="0" r="-783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715270" y="3773976"/>
            <a:ext cx="8593588" cy="479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</a:pPr>
            <a:r>
              <a:rPr lang="en-US" sz="2702" spc="-27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KPI Metrics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15270" y="4376137"/>
            <a:ext cx="8593588" cy="579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Total Customers · Total Orders · Average Purchase Amount · Average Review Rating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7856182" y="5365728"/>
            <a:ext cx="602913" cy="602933"/>
          </a:xfrm>
          <a:custGeom>
            <a:avLst/>
            <a:gdLst/>
            <a:ahLst/>
            <a:cxnLst/>
            <a:rect r="r" b="b" t="t" l="l"/>
            <a:pathLst>
              <a:path h="602933" w="602913">
                <a:moveTo>
                  <a:pt x="0" y="0"/>
                </a:moveTo>
                <a:lnTo>
                  <a:pt x="602913" y="0"/>
                </a:lnTo>
                <a:lnTo>
                  <a:pt x="602913" y="602932"/>
                </a:lnTo>
                <a:lnTo>
                  <a:pt x="0" y="6029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938" t="0" r="-10938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715270" y="5337153"/>
            <a:ext cx="8593588" cy="479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</a:pPr>
            <a:r>
              <a:rPr lang="en-US" sz="2702" spc="-27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Analysis Dimensions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15270" y="5939314"/>
            <a:ext cx="8593588" cy="579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Revenue by Category · Sales by Category · Revenue by Age Group · Subscription Status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7856182" y="6928895"/>
            <a:ext cx="602913" cy="602933"/>
          </a:xfrm>
          <a:custGeom>
            <a:avLst/>
            <a:gdLst/>
            <a:ahLst/>
            <a:cxnLst/>
            <a:rect r="r" b="b" t="t" l="l"/>
            <a:pathLst>
              <a:path h="602933" w="602913">
                <a:moveTo>
                  <a:pt x="0" y="0"/>
                </a:moveTo>
                <a:lnTo>
                  <a:pt x="602913" y="0"/>
                </a:lnTo>
                <a:lnTo>
                  <a:pt x="602913" y="602932"/>
                </a:lnTo>
                <a:lnTo>
                  <a:pt x="0" y="6029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2344" t="0" r="-2346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715270" y="6900320"/>
            <a:ext cx="8593588" cy="479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</a:pPr>
            <a:r>
              <a:rPr lang="en-US" sz="2702" spc="-27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Interactive Filters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15270" y="7502481"/>
            <a:ext cx="8593588" cy="289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Subscription Status · Gender · Category · Shipping Type · Season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56182" y="8022898"/>
            <a:ext cx="9452677" cy="579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1"/>
              </a:lnSpc>
            </a:pPr>
            <a:r>
              <a:rPr lang="en-US" sz="1876" i="true">
                <a:solidFill>
                  <a:srgbClr val="67534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Power BI transformed analytical results into an interactive stakeholder-facing dashboard for faster exploration and decision-making.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EC8A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42817"/>
            <a:ext cx="16315868" cy="78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4428" spc="-45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From Customer Insights to Business Actions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991" y="1801339"/>
            <a:ext cx="16315868" cy="1431360"/>
          </a:xfrm>
          <a:custGeom>
            <a:avLst/>
            <a:gdLst/>
            <a:ahLst/>
            <a:cxnLst/>
            <a:rect r="r" b="b" t="t" l="l"/>
            <a:pathLst>
              <a:path h="1431360" w="16315868">
                <a:moveTo>
                  <a:pt x="0" y="0"/>
                </a:moveTo>
                <a:lnTo>
                  <a:pt x="16315868" y="0"/>
                </a:lnTo>
                <a:lnTo>
                  <a:pt x="16315868" y="1431360"/>
                </a:lnTo>
                <a:lnTo>
                  <a:pt x="0" y="1431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72" r="0" b="-572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60338" y="2323386"/>
            <a:ext cx="297885" cy="387258"/>
            <a:chOff x="0" y="0"/>
            <a:chExt cx="397180" cy="5163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7176" cy="516341"/>
            </a:xfrm>
            <a:custGeom>
              <a:avLst/>
              <a:gdLst/>
              <a:ahLst/>
              <a:cxnLst/>
              <a:rect r="r" b="b" t="t" l="l"/>
              <a:pathLst>
                <a:path h="516341" w="397176">
                  <a:moveTo>
                    <a:pt x="0" y="0"/>
                  </a:moveTo>
                  <a:lnTo>
                    <a:pt x="397176" y="0"/>
                  </a:lnTo>
                  <a:lnTo>
                    <a:pt x="397176" y="516341"/>
                  </a:lnTo>
                  <a:lnTo>
                    <a:pt x="0" y="5163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6798" t="0" r="-116799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397180" cy="5163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 spc="-24">
                  <a:solidFill>
                    <a:srgbClr val="67534F"/>
                  </a:solidFill>
                  <a:latin typeface="Marcellus"/>
                  <a:ea typeface="Marcellus"/>
                  <a:cs typeface="Marcellus"/>
                  <a:sym typeface="Marcellus"/>
                </a:rPr>
                <a:t>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954997" y="2009423"/>
            <a:ext cx="15126719" cy="390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 spc="-22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Subscription Growth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54997" y="2492578"/>
            <a:ext cx="15126719" cy="512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501" b="true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Insight:</a:t>
            </a:r>
            <a:r>
              <a:rPr lang="en-US" sz="150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Only 27% of customers are subscribers</a:t>
            </a:r>
          </a:p>
          <a:p>
            <a:pPr algn="l">
              <a:lnSpc>
                <a:spcPts val="1657"/>
              </a:lnSpc>
            </a:pPr>
            <a:r>
              <a:rPr lang="en-US" sz="1501" b="true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Action:</a:t>
            </a:r>
            <a:r>
              <a:rPr lang="en-US" sz="150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Promote exclusive subscription benefits and targeted conversion campaigns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92991" y="3371660"/>
            <a:ext cx="16315868" cy="1431360"/>
          </a:xfrm>
          <a:custGeom>
            <a:avLst/>
            <a:gdLst/>
            <a:ahLst/>
            <a:cxnLst/>
            <a:rect r="r" b="b" t="t" l="l"/>
            <a:pathLst>
              <a:path h="1431360" w="16315868">
                <a:moveTo>
                  <a:pt x="0" y="0"/>
                </a:moveTo>
                <a:lnTo>
                  <a:pt x="16315868" y="0"/>
                </a:lnTo>
                <a:lnTo>
                  <a:pt x="16315868" y="1431359"/>
                </a:lnTo>
                <a:lnTo>
                  <a:pt x="0" y="14313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72" r="0" b="-572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260338" y="3893706"/>
            <a:ext cx="297885" cy="387258"/>
            <a:chOff x="0" y="0"/>
            <a:chExt cx="397180" cy="5163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97176" cy="516341"/>
            </a:xfrm>
            <a:custGeom>
              <a:avLst/>
              <a:gdLst/>
              <a:ahLst/>
              <a:cxnLst/>
              <a:rect r="r" b="b" t="t" l="l"/>
              <a:pathLst>
                <a:path h="516341" w="397176">
                  <a:moveTo>
                    <a:pt x="0" y="0"/>
                  </a:moveTo>
                  <a:lnTo>
                    <a:pt x="397176" y="0"/>
                  </a:lnTo>
                  <a:lnTo>
                    <a:pt x="397176" y="516341"/>
                  </a:lnTo>
                  <a:lnTo>
                    <a:pt x="0" y="5163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6798" t="0" r="-116799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397180" cy="5163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 spc="-24">
                  <a:solidFill>
                    <a:srgbClr val="67534F"/>
                  </a:solidFill>
                  <a:latin typeface="Marcellus"/>
                  <a:ea typeface="Marcellus"/>
                  <a:cs typeface="Marcellus"/>
                  <a:sym typeface="Marcellus"/>
                </a:rPr>
                <a:t>2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954997" y="3579743"/>
            <a:ext cx="15126719" cy="390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 spc="-22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Customer Retention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54997" y="4062898"/>
            <a:ext cx="15126719" cy="512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501" b="true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Insight:</a:t>
            </a:r>
            <a:r>
              <a:rPr lang="en-US" sz="150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3,116 loyal and 701 returning customers represent a strong engagement base</a:t>
            </a:r>
          </a:p>
          <a:p>
            <a:pPr algn="l">
              <a:lnSpc>
                <a:spcPts val="1657"/>
              </a:lnSpc>
            </a:pPr>
            <a:r>
              <a:rPr lang="en-US" sz="1501" b="true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Action:</a:t>
            </a:r>
            <a:r>
              <a:rPr lang="en-US" sz="150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Develop targeted loyalty initiatives to strengthen repeat customer relationships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992991" y="4941980"/>
            <a:ext cx="16315868" cy="1431360"/>
          </a:xfrm>
          <a:custGeom>
            <a:avLst/>
            <a:gdLst/>
            <a:ahLst/>
            <a:cxnLst/>
            <a:rect r="r" b="b" t="t" l="l"/>
            <a:pathLst>
              <a:path h="1431360" w="16315868">
                <a:moveTo>
                  <a:pt x="0" y="0"/>
                </a:moveTo>
                <a:lnTo>
                  <a:pt x="16315868" y="0"/>
                </a:lnTo>
                <a:lnTo>
                  <a:pt x="16315868" y="1431359"/>
                </a:lnTo>
                <a:lnTo>
                  <a:pt x="0" y="14313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72" r="0" b="-572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260338" y="5464026"/>
            <a:ext cx="297885" cy="387258"/>
            <a:chOff x="0" y="0"/>
            <a:chExt cx="397180" cy="5163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97176" cy="516341"/>
            </a:xfrm>
            <a:custGeom>
              <a:avLst/>
              <a:gdLst/>
              <a:ahLst/>
              <a:cxnLst/>
              <a:rect r="r" b="b" t="t" l="l"/>
              <a:pathLst>
                <a:path h="516341" w="397176">
                  <a:moveTo>
                    <a:pt x="0" y="0"/>
                  </a:moveTo>
                  <a:lnTo>
                    <a:pt x="397176" y="0"/>
                  </a:lnTo>
                  <a:lnTo>
                    <a:pt x="397176" y="516341"/>
                  </a:lnTo>
                  <a:lnTo>
                    <a:pt x="0" y="5163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6798" t="0" r="-116799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397180" cy="5163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 spc="-24">
                  <a:solidFill>
                    <a:srgbClr val="67534F"/>
                  </a:solidFill>
                  <a:latin typeface="Marcellus"/>
                  <a:ea typeface="Marcellus"/>
                  <a:cs typeface="Marcellus"/>
                  <a:sym typeface="Marcellus"/>
                </a:rPr>
                <a:t>3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954997" y="5150072"/>
            <a:ext cx="15126719" cy="390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 spc="-22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Discount Optimization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54997" y="5633218"/>
            <a:ext cx="15126719" cy="512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501" b="true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Insight:</a:t>
            </a:r>
            <a:r>
              <a:rPr lang="en-US" sz="150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Several products carry discount rates near 50%</a:t>
            </a:r>
          </a:p>
          <a:p>
            <a:pPr algn="l">
              <a:lnSpc>
                <a:spcPts val="1657"/>
              </a:lnSpc>
            </a:pPr>
            <a:r>
              <a:rPr lang="en-US" sz="1501" b="true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Action:</a:t>
            </a:r>
            <a:r>
              <a:rPr lang="en-US" sz="150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Evaluate promotional effectiveness and balance discounts with margin considerations</a:t>
            </a:r>
          </a:p>
        </p:txBody>
      </p:sp>
      <p:sp>
        <p:nvSpPr>
          <p:cNvPr name="Freeform 25" id="25" descr="preencoded.png"/>
          <p:cNvSpPr/>
          <p:nvPr/>
        </p:nvSpPr>
        <p:spPr>
          <a:xfrm flipH="false" flipV="false" rot="0">
            <a:off x="992991" y="6512300"/>
            <a:ext cx="16315868" cy="1431360"/>
          </a:xfrm>
          <a:custGeom>
            <a:avLst/>
            <a:gdLst/>
            <a:ahLst/>
            <a:cxnLst/>
            <a:rect r="r" b="b" t="t" l="l"/>
            <a:pathLst>
              <a:path h="1431360" w="16315868">
                <a:moveTo>
                  <a:pt x="0" y="0"/>
                </a:moveTo>
                <a:lnTo>
                  <a:pt x="16315868" y="0"/>
                </a:lnTo>
                <a:lnTo>
                  <a:pt x="16315868" y="1431360"/>
                </a:lnTo>
                <a:lnTo>
                  <a:pt x="0" y="1431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72" r="0" b="-572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260338" y="7034346"/>
            <a:ext cx="297885" cy="387258"/>
            <a:chOff x="0" y="0"/>
            <a:chExt cx="397180" cy="51634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97176" cy="516341"/>
            </a:xfrm>
            <a:custGeom>
              <a:avLst/>
              <a:gdLst/>
              <a:ahLst/>
              <a:cxnLst/>
              <a:rect r="r" b="b" t="t" l="l"/>
              <a:pathLst>
                <a:path h="516341" w="397176">
                  <a:moveTo>
                    <a:pt x="0" y="0"/>
                  </a:moveTo>
                  <a:lnTo>
                    <a:pt x="397176" y="0"/>
                  </a:lnTo>
                  <a:lnTo>
                    <a:pt x="397176" y="516341"/>
                  </a:lnTo>
                  <a:lnTo>
                    <a:pt x="0" y="5163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6798" t="0" r="-116799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97180" cy="5163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 spc="-24">
                  <a:solidFill>
                    <a:srgbClr val="67534F"/>
                  </a:solidFill>
                  <a:latin typeface="Marcellus"/>
                  <a:ea typeface="Marcellus"/>
                  <a:cs typeface="Marcellus"/>
                  <a:sym typeface="Marcellus"/>
                </a:rPr>
                <a:t>4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954997" y="6720392"/>
            <a:ext cx="15126719" cy="390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 spc="-22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Product Marketing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954997" y="7203548"/>
            <a:ext cx="15126719" cy="512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501" b="true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Insight:</a:t>
            </a:r>
            <a:r>
              <a:rPr lang="en-US" sz="150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Several products show strong order volume and ratings</a:t>
            </a:r>
          </a:p>
          <a:p>
            <a:pPr algn="l">
              <a:lnSpc>
                <a:spcPts val="1657"/>
              </a:lnSpc>
            </a:pPr>
            <a:r>
              <a:rPr lang="en-US" sz="1501" b="true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Action:</a:t>
            </a:r>
            <a:r>
              <a:rPr lang="en-US" sz="150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Prioritize high-performing products in marketing and merchandising campaigns</a:t>
            </a:r>
          </a:p>
        </p:txBody>
      </p:sp>
      <p:sp>
        <p:nvSpPr>
          <p:cNvPr name="Freeform 31" id="31" descr="preencoded.png"/>
          <p:cNvSpPr/>
          <p:nvPr/>
        </p:nvSpPr>
        <p:spPr>
          <a:xfrm flipH="false" flipV="false" rot="0">
            <a:off x="992991" y="8082620"/>
            <a:ext cx="16315868" cy="1431360"/>
          </a:xfrm>
          <a:custGeom>
            <a:avLst/>
            <a:gdLst/>
            <a:ahLst/>
            <a:cxnLst/>
            <a:rect r="r" b="b" t="t" l="l"/>
            <a:pathLst>
              <a:path h="1431360" w="16315868">
                <a:moveTo>
                  <a:pt x="0" y="0"/>
                </a:moveTo>
                <a:lnTo>
                  <a:pt x="16315868" y="0"/>
                </a:lnTo>
                <a:lnTo>
                  <a:pt x="16315868" y="1431360"/>
                </a:lnTo>
                <a:lnTo>
                  <a:pt x="0" y="1431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72" r="0" b="-572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260338" y="8604675"/>
            <a:ext cx="297885" cy="387258"/>
            <a:chOff x="0" y="0"/>
            <a:chExt cx="397180" cy="51634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7176" cy="516341"/>
            </a:xfrm>
            <a:custGeom>
              <a:avLst/>
              <a:gdLst/>
              <a:ahLst/>
              <a:cxnLst/>
              <a:rect r="r" b="b" t="t" l="l"/>
              <a:pathLst>
                <a:path h="516341" w="397176">
                  <a:moveTo>
                    <a:pt x="0" y="0"/>
                  </a:moveTo>
                  <a:lnTo>
                    <a:pt x="397176" y="0"/>
                  </a:lnTo>
                  <a:lnTo>
                    <a:pt x="397176" y="516341"/>
                  </a:lnTo>
                  <a:lnTo>
                    <a:pt x="0" y="5163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6798" t="0" r="-116799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97180" cy="5163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 spc="-24">
                  <a:solidFill>
                    <a:srgbClr val="67534F"/>
                  </a:solidFill>
                  <a:latin typeface="Marcellus"/>
                  <a:ea typeface="Marcellus"/>
                  <a:cs typeface="Marcellus"/>
                  <a:sym typeface="Marcellus"/>
                </a:rPr>
                <a:t>5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954997" y="8290712"/>
            <a:ext cx="15126719" cy="390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 spc="-22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Targeted Marketing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54997" y="8773868"/>
            <a:ext cx="15126719" cy="512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501" b="true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Insight:</a:t>
            </a:r>
            <a:r>
              <a:rPr lang="en-US" sz="150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Young Adult and Middle-aged groups generate highest reported revenue</a:t>
            </a:r>
          </a:p>
          <a:p>
            <a:pPr algn="l">
              <a:lnSpc>
                <a:spcPts val="1657"/>
              </a:lnSpc>
            </a:pPr>
            <a:r>
              <a:rPr lang="en-US" sz="1501" b="true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Action:</a:t>
            </a:r>
            <a:r>
              <a:rPr lang="en-US" sz="150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Develop targeted campaigns for these segments while maintaining broader strategies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EC8A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65010"/>
            <a:ext cx="16315868" cy="757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2"/>
              </a:lnSpc>
            </a:pPr>
            <a:r>
              <a:rPr lang="en-US" sz="4353" spc="-43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End-to-End Analytics: From Data to Decisions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3090462"/>
            <a:ext cx="5405361" cy="37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 spc="-22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Technology Stack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3456" y="3606241"/>
            <a:ext cx="5424421" cy="1351521"/>
            <a:chOff x="0" y="0"/>
            <a:chExt cx="7232561" cy="18020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32650" cy="1802130"/>
            </a:xfrm>
            <a:custGeom>
              <a:avLst/>
              <a:gdLst/>
              <a:ahLst/>
              <a:cxnLst/>
              <a:rect r="r" b="b" t="t" l="l"/>
              <a:pathLst>
                <a:path h="1802130" w="7232650">
                  <a:moveTo>
                    <a:pt x="0" y="109347"/>
                  </a:moveTo>
                  <a:cubicBezTo>
                    <a:pt x="0" y="48895"/>
                    <a:pt x="48895" y="0"/>
                    <a:pt x="109347" y="0"/>
                  </a:cubicBezTo>
                  <a:lnTo>
                    <a:pt x="7123303" y="0"/>
                  </a:lnTo>
                  <a:cubicBezTo>
                    <a:pt x="7183628" y="0"/>
                    <a:pt x="7232650" y="48895"/>
                    <a:pt x="7232650" y="109347"/>
                  </a:cubicBezTo>
                  <a:lnTo>
                    <a:pt x="7232650" y="1692783"/>
                  </a:lnTo>
                  <a:cubicBezTo>
                    <a:pt x="7232650" y="1753108"/>
                    <a:pt x="7183755" y="1802130"/>
                    <a:pt x="7123303" y="1802130"/>
                  </a:cubicBezTo>
                  <a:lnTo>
                    <a:pt x="109347" y="1802130"/>
                  </a:lnTo>
                  <a:cubicBezTo>
                    <a:pt x="49022" y="1802130"/>
                    <a:pt x="0" y="1753235"/>
                    <a:pt x="0" y="1692783"/>
                  </a:cubicBezTo>
                  <a:close/>
                </a:path>
              </a:pathLst>
            </a:custGeom>
            <a:solidFill>
              <a:srgbClr val="FFFFF4"/>
            </a:solidFill>
            <a:ln w="19065" cap="sq">
              <a:solidFill>
                <a:srgbClr val="FFE0CC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204331" y="3808076"/>
            <a:ext cx="4982661" cy="37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 spc="-22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Python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4331" y="4326684"/>
            <a:ext cx="4982661" cy="410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50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pandas · Data Cleaning · EDA · Missing Value Treatment · Feature Engineering · Data Validation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83456" y="5069176"/>
            <a:ext cx="5424421" cy="1561386"/>
            <a:chOff x="0" y="0"/>
            <a:chExt cx="7232561" cy="20818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32524" cy="2081911"/>
            </a:xfrm>
            <a:custGeom>
              <a:avLst/>
              <a:gdLst/>
              <a:ahLst/>
              <a:cxnLst/>
              <a:rect r="r" b="b" t="t" l="l"/>
              <a:pathLst>
                <a:path h="2081911" w="7232524">
                  <a:moveTo>
                    <a:pt x="0" y="109093"/>
                  </a:moveTo>
                  <a:cubicBezTo>
                    <a:pt x="0" y="48895"/>
                    <a:pt x="48895" y="0"/>
                    <a:pt x="109093" y="0"/>
                  </a:cubicBezTo>
                  <a:lnTo>
                    <a:pt x="7123430" y="0"/>
                  </a:lnTo>
                  <a:cubicBezTo>
                    <a:pt x="7183628" y="0"/>
                    <a:pt x="7232524" y="48895"/>
                    <a:pt x="7232524" y="109093"/>
                  </a:cubicBezTo>
                  <a:lnTo>
                    <a:pt x="7232524" y="1972818"/>
                  </a:lnTo>
                  <a:cubicBezTo>
                    <a:pt x="7232524" y="2033016"/>
                    <a:pt x="7183628" y="2081911"/>
                    <a:pt x="7123430" y="2081911"/>
                  </a:cubicBezTo>
                  <a:lnTo>
                    <a:pt x="109093" y="2081911"/>
                  </a:lnTo>
                  <a:cubicBezTo>
                    <a:pt x="48895" y="2081911"/>
                    <a:pt x="0" y="2033016"/>
                    <a:pt x="0" y="1972818"/>
                  </a:cubicBezTo>
                  <a:close/>
                </a:path>
              </a:pathLst>
            </a:custGeom>
            <a:solidFill>
              <a:srgbClr val="FFFFF4"/>
            </a:solidFill>
            <a:ln w="19065" cap="sq">
              <a:solidFill>
                <a:srgbClr val="FFE0CC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204331" y="5271011"/>
            <a:ext cx="4982661" cy="37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 spc="-22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PostgreSQL / SQL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4331" y="5789609"/>
            <a:ext cx="4982661" cy="620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50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Relational Analysis · Business Queries · Aggregations · Customer Segmentation · Revenue Analysis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83456" y="6741976"/>
            <a:ext cx="5424421" cy="1351521"/>
            <a:chOff x="0" y="0"/>
            <a:chExt cx="7232561" cy="18020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232650" cy="1802130"/>
            </a:xfrm>
            <a:custGeom>
              <a:avLst/>
              <a:gdLst/>
              <a:ahLst/>
              <a:cxnLst/>
              <a:rect r="r" b="b" t="t" l="l"/>
              <a:pathLst>
                <a:path h="1802130" w="7232650">
                  <a:moveTo>
                    <a:pt x="0" y="109347"/>
                  </a:moveTo>
                  <a:cubicBezTo>
                    <a:pt x="0" y="48895"/>
                    <a:pt x="48895" y="0"/>
                    <a:pt x="109347" y="0"/>
                  </a:cubicBezTo>
                  <a:lnTo>
                    <a:pt x="7123303" y="0"/>
                  </a:lnTo>
                  <a:cubicBezTo>
                    <a:pt x="7183628" y="0"/>
                    <a:pt x="7232650" y="48895"/>
                    <a:pt x="7232650" y="109347"/>
                  </a:cubicBezTo>
                  <a:lnTo>
                    <a:pt x="7232650" y="1692783"/>
                  </a:lnTo>
                  <a:cubicBezTo>
                    <a:pt x="7232650" y="1753108"/>
                    <a:pt x="7183755" y="1802130"/>
                    <a:pt x="7123303" y="1802130"/>
                  </a:cubicBezTo>
                  <a:lnTo>
                    <a:pt x="109347" y="1802130"/>
                  </a:lnTo>
                  <a:cubicBezTo>
                    <a:pt x="49022" y="1802130"/>
                    <a:pt x="0" y="1753235"/>
                    <a:pt x="0" y="1692783"/>
                  </a:cubicBezTo>
                  <a:close/>
                </a:path>
              </a:pathLst>
            </a:custGeom>
            <a:solidFill>
              <a:srgbClr val="FFFFF4"/>
            </a:solidFill>
            <a:ln w="19065" cap="sq">
              <a:solidFill>
                <a:srgbClr val="FFE0CC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04331" y="6943811"/>
            <a:ext cx="4982661" cy="37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 spc="-22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Power BI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4331" y="7462409"/>
            <a:ext cx="4982661" cy="410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50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Interactive Dashboards · KPI Development · Data Visualization · Slicers / Filters · Business Storytelling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77336" y="1829352"/>
            <a:ext cx="10440895" cy="37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 spc="-22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Complete Value Chain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443455" y="2354666"/>
            <a:ext cx="7308523" cy="3993794"/>
            <a:chOff x="0" y="0"/>
            <a:chExt cx="9744697" cy="5325059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9744710" cy="5325110"/>
            </a:xfrm>
            <a:custGeom>
              <a:avLst/>
              <a:gdLst/>
              <a:ahLst/>
              <a:cxnLst/>
              <a:rect r="r" b="b" t="t" l="l"/>
              <a:pathLst>
                <a:path h="5325110" w="9744710">
                  <a:moveTo>
                    <a:pt x="0" y="0"/>
                  </a:moveTo>
                  <a:lnTo>
                    <a:pt x="9744710" y="0"/>
                  </a:lnTo>
                  <a:lnTo>
                    <a:pt x="9744710" y="5325110"/>
                  </a:lnTo>
                  <a:lnTo>
                    <a:pt x="0" y="5325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" t="0" r="-15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407176" y="4193943"/>
            <a:ext cx="1693459" cy="284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0"/>
              </a:lnSpc>
            </a:pPr>
            <a:r>
              <a:rPr lang="en-US" sz="1651" spc="-16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Raw Data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683444" y="4167959"/>
            <a:ext cx="1693459" cy="284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0"/>
              </a:lnSpc>
            </a:pPr>
            <a:r>
              <a:rPr lang="en-US" sz="1651" spc="-16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Clean Data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594468" y="4176274"/>
            <a:ext cx="1693459" cy="284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0"/>
              </a:lnSpc>
            </a:pPr>
            <a:r>
              <a:rPr lang="en-US" sz="1651" spc="-16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Analysis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77336" y="6476124"/>
            <a:ext cx="10440895" cy="37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 spc="-22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Project Value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77336" y="7045995"/>
            <a:ext cx="10440895" cy="1170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1886" indent="-135943" lvl="1">
              <a:lnSpc>
                <a:spcPts val="1639"/>
              </a:lnSpc>
              <a:buFont typeface="Arial"/>
              <a:buChar char="•"/>
            </a:pPr>
            <a:r>
              <a:rPr lang="en-US" sz="150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Translate business problems into analytical questions</a:t>
            </a:r>
          </a:p>
          <a:p>
            <a:pPr algn="l" marL="271886" indent="-135943" lvl="1">
              <a:lnSpc>
                <a:spcPts val="1639"/>
              </a:lnSpc>
              <a:buFont typeface="Arial"/>
              <a:buChar char="•"/>
            </a:pPr>
            <a:r>
              <a:rPr lang="en-US" sz="150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Prepare and validate real-world data</a:t>
            </a:r>
          </a:p>
          <a:p>
            <a:pPr algn="l" marL="271886" indent="-135943" lvl="1">
              <a:lnSpc>
                <a:spcPts val="1639"/>
              </a:lnSpc>
              <a:buFont typeface="Arial"/>
              <a:buChar char="•"/>
            </a:pPr>
            <a:r>
              <a:rPr lang="en-US" sz="150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Perform structured SQL analysis</a:t>
            </a:r>
          </a:p>
          <a:p>
            <a:pPr algn="l" marL="271886" indent="-135943" lvl="1">
              <a:lnSpc>
                <a:spcPts val="1639"/>
              </a:lnSpc>
              <a:buFont typeface="Arial"/>
              <a:buChar char="•"/>
            </a:pPr>
            <a:r>
              <a:rPr lang="en-US" sz="150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Communicate insights visually</a:t>
            </a:r>
          </a:p>
          <a:p>
            <a:pPr algn="l" marL="271886" indent="-135943" lvl="1">
              <a:lnSpc>
                <a:spcPts val="1639"/>
              </a:lnSpc>
              <a:buFont typeface="Arial"/>
              <a:buChar char="•"/>
            </a:pPr>
            <a:r>
              <a:rPr lang="en-US" sz="150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Convert findings into actionable business recommendations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165838" y="8490423"/>
            <a:ext cx="10152402" cy="410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501" i="true">
                <a:solidFill>
                  <a:srgbClr val="67534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"Turning customer data into decisions that support smarter marketing, stronger engagement, and better product strategy."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877336" y="8363531"/>
            <a:ext cx="28594" cy="654463"/>
            <a:chOff x="0" y="0"/>
            <a:chExt cx="38125" cy="87261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8100" cy="872617"/>
            </a:xfrm>
            <a:custGeom>
              <a:avLst/>
              <a:gdLst/>
              <a:ahLst/>
              <a:cxnLst/>
              <a:rect r="r" b="b" t="t" l="l"/>
              <a:pathLst>
                <a:path h="872617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853567"/>
                  </a:lnTo>
                  <a:cubicBezTo>
                    <a:pt x="38100" y="864108"/>
                    <a:pt x="29591" y="872617"/>
                    <a:pt x="19050" y="872617"/>
                  </a:cubicBezTo>
                  <a:cubicBezTo>
                    <a:pt x="8509" y="872617"/>
                    <a:pt x="0" y="864108"/>
                    <a:pt x="0" y="853567"/>
                  </a:cubicBezTo>
                  <a:close/>
                </a:path>
              </a:pathLst>
            </a:custGeom>
            <a:solidFill>
              <a:srgbClr val="FF954F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6877336" y="9174232"/>
            <a:ext cx="11355991" cy="200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501" b="true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GitHub Repository:</a:t>
            </a:r>
            <a:r>
              <a:rPr lang="en-US" sz="1501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[INSERT LINK]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DAHTyxLY0Rk</dc:identifier>
  <dcterms:modified xsi:type="dcterms:W3CDTF">2011-08-01T06:04:30Z</dcterms:modified>
  <cp:revision>1</cp:revision>
</cp:coreProperties>
</file>